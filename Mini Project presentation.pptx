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Lst>
  <p:notesMasterIdLst>
    <p:notesMasterId r:id="rId20"/>
  </p:notesMasterIdLst>
  <p:handoutMasterIdLst>
    <p:handoutMasterId r:id="rId21"/>
  </p:handoutMasterIdLst>
  <p:sldIdLst>
    <p:sldId id="257" r:id="rId5"/>
    <p:sldId id="258" r:id="rId6"/>
    <p:sldId id="259" r:id="rId7"/>
    <p:sldId id="260" r:id="rId8"/>
    <p:sldId id="261" r:id="rId9"/>
    <p:sldId id="277" r:id="rId10"/>
    <p:sldId id="262" r:id="rId11"/>
    <p:sldId id="272" r:id="rId12"/>
    <p:sldId id="276" r:id="rId13"/>
    <p:sldId id="263" r:id="rId14"/>
    <p:sldId id="271" r:id="rId15"/>
    <p:sldId id="273" r:id="rId16"/>
    <p:sldId id="274" r:id="rId17"/>
    <p:sldId id="275"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p:scale>
          <a:sx n="60" d="100"/>
          <a:sy n="60" d="100"/>
        </p:scale>
        <p:origin x="-978" y="-384"/>
      </p:cViewPr>
      <p:guideLst>
        <p:guide orient="horz" pos="2160"/>
        <p:guide pos="3840"/>
      </p:guideLst>
    </p:cSldViewPr>
  </p:slideViewPr>
  <p:notesTextViewPr>
    <p:cViewPr>
      <p:scale>
        <a:sx n="1" d="1"/>
        <a:sy n="1" d="1"/>
      </p:scale>
      <p:origin x="0" y="0"/>
    </p:cViewPr>
  </p:notesTextViewPr>
  <p:notesViewPr>
    <p:cSldViewPr snapToGrid="0">
      <p:cViewPr varScale="1">
        <p:scale>
          <a:sx n="83" d="100"/>
          <a:sy n="83" d="100"/>
        </p:scale>
        <p:origin x="240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560B6B-963E-45AD-B18D-9DA3469D83C9}" type="datetimeFigureOut">
              <a:rPr lang="en-US" smtClean="0"/>
              <a:t>30-Jun-23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B61BEE-A6B4-49DE-8859-2A55F155C514}" type="slidenum">
              <a:rPr lang="en-US" smtClean="0"/>
              <a:t>‹#›</a:t>
            </a:fld>
            <a:endParaRPr lang="en-US"/>
          </a:p>
        </p:txBody>
      </p:sp>
    </p:spTree>
    <p:extLst>
      <p:ext uri="{BB962C8B-B14F-4D97-AF65-F5344CB8AC3E}">
        <p14:creationId xmlns:p14="http://schemas.microsoft.com/office/powerpoint/2010/main" val="3784930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8D2A0D-6B45-4215-8A49-D14849101A69}" type="datetimeFigureOut">
              <a:rPr lang="en-US" smtClean="0"/>
              <a:t>30-Jun-23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6A182-AF03-4CC8-94DC-C0726DF52A64}" type="slidenum">
              <a:rPr lang="en-US" smtClean="0"/>
              <a:t>‹#›</a:t>
            </a:fld>
            <a:endParaRPr lang="en-US"/>
          </a:p>
        </p:txBody>
      </p:sp>
    </p:spTree>
    <p:extLst>
      <p:ext uri="{BB962C8B-B14F-4D97-AF65-F5344CB8AC3E}">
        <p14:creationId xmlns:p14="http://schemas.microsoft.com/office/powerpoint/2010/main" val="3303640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6E6A182-AF03-4CC8-94DC-C0726DF52A64}" type="slidenum">
              <a:rPr lang="en-US" smtClean="0"/>
              <a:t>1</a:t>
            </a:fld>
            <a:endParaRPr lang="en-US"/>
          </a:p>
        </p:txBody>
      </p:sp>
    </p:spTree>
    <p:extLst>
      <p:ext uri="{BB962C8B-B14F-4D97-AF65-F5344CB8AC3E}">
        <p14:creationId xmlns:p14="http://schemas.microsoft.com/office/powerpoint/2010/main" val="1337753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12192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8AE1E626-6EB7-4D9A-AD4A-B54D1684CAD1}" type="datetime1">
              <a:rPr lang="en-US" smtClean="0"/>
              <a:t>30-Jun-23</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01CF334-2D5C-4859-84A6-CA7E6E43FAEB}" type="slidenum">
              <a:rPr lang="en-US" smtClean="0"/>
              <a:t>‹#›</a:t>
            </a:fld>
            <a:endParaRPr lang="en-US"/>
          </a:p>
        </p:txBody>
      </p:sp>
      <p:grpSp>
        <p:nvGrpSpPr>
          <p:cNvPr id="8" name="Group 7"/>
          <p:cNvGrpSpPr/>
          <p:nvPr/>
        </p:nvGrpSpPr>
        <p:grpSpPr>
          <a:xfrm>
            <a:off x="1592135" y="2887530"/>
            <a:ext cx="9038813"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657872"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77788" y="1387737"/>
            <a:ext cx="9036424"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828800" y="3767862"/>
            <a:ext cx="85344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BD24A36-10EA-4DE5-9251-C62AA44714D2}" type="datetime1">
              <a:rPr lang="en-US" smtClean="0"/>
              <a:t>30-Jun-23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563446" y="1392217"/>
            <a:ext cx="9038813" cy="923330"/>
            <a:chOff x="1172584" y="1381459"/>
            <a:chExt cx="6779110" cy="923330"/>
          </a:xfrm>
        </p:grpSpPr>
        <p:sp>
          <p:nvSpPr>
            <p:cNvPr id="13" name="TextBox 12"/>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12192000" cy="6858000"/>
          </a:xfrm>
          <a:prstGeom prst="rect">
            <a:avLst/>
          </a:prstGeom>
        </p:spPr>
      </p:pic>
      <p:grpSp>
        <p:nvGrpSpPr>
          <p:cNvPr id="7" name="Group 7"/>
          <p:cNvGrpSpPr/>
          <p:nvPr/>
        </p:nvGrpSpPr>
        <p:grpSpPr>
          <a:xfrm>
            <a:off x="1563446" y="2887579"/>
            <a:ext cx="9038813" cy="923330"/>
            <a:chOff x="1172584" y="1381459"/>
            <a:chExt cx="6779110" cy="923330"/>
          </a:xfrm>
        </p:grpSpPr>
        <p:sp>
          <p:nvSpPr>
            <p:cNvPr id="9" name="TextBox 8"/>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920054" y="1204857"/>
            <a:ext cx="10339617"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932331" y="3767317"/>
            <a:ext cx="10312996"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5E95A85-13CC-45EA-B1A6-5B8E77AB646B}" type="datetime1">
              <a:rPr lang="en-US" smtClean="0"/>
              <a:t>30-Jun-23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4B71815-F531-4787-BA2A-626422C133AD}" type="datetime1">
              <a:rPr lang="en-US" smtClean="0"/>
              <a:t>30-Jun-23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563446" y="1392217"/>
            <a:ext cx="9038813" cy="923330"/>
            <a:chOff x="1172584" y="1381459"/>
            <a:chExt cx="6779110" cy="923330"/>
          </a:xfrm>
        </p:grpSpPr>
        <p:sp>
          <p:nvSpPr>
            <p:cNvPr id="14" name="TextBox 13"/>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914400" y="2240280"/>
            <a:ext cx="5071872"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6193535" y="2240280"/>
            <a:ext cx="5071872"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02080" y="2240280"/>
            <a:ext cx="458992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7984" y="2947595"/>
            <a:ext cx="5071872"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69741" y="2240280"/>
            <a:ext cx="4596384"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944368"/>
            <a:ext cx="50663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6C4885B-3C5C-43BB-9862-47948E5DF551}" type="datetime1">
              <a:rPr lang="en-US" smtClean="0"/>
              <a:t>30-Jun-23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a:p>
        </p:txBody>
      </p:sp>
      <p:grpSp>
        <p:nvGrpSpPr>
          <p:cNvPr id="14" name="Group 13"/>
          <p:cNvGrpSpPr/>
          <p:nvPr/>
        </p:nvGrpSpPr>
        <p:grpSpPr>
          <a:xfrm>
            <a:off x="1563446" y="1392217"/>
            <a:ext cx="9038813" cy="923330"/>
            <a:chOff x="1172584" y="1381459"/>
            <a:chExt cx="6779110" cy="923330"/>
          </a:xfrm>
        </p:grpSpPr>
        <p:sp>
          <p:nvSpPr>
            <p:cNvPr id="16" name="TextBox 15"/>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703B6AF-AB61-4D8E-B7B7-705C5ACEBBCC}" type="datetime1">
              <a:rPr lang="en-US" smtClean="0"/>
              <a:t>30-Jun-23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a:p>
        </p:txBody>
      </p:sp>
      <p:grpSp>
        <p:nvGrpSpPr>
          <p:cNvPr id="10" name="Group 9"/>
          <p:cNvGrpSpPr/>
          <p:nvPr/>
        </p:nvGrpSpPr>
        <p:grpSpPr>
          <a:xfrm>
            <a:off x="1563446" y="1392217"/>
            <a:ext cx="9038813" cy="923330"/>
            <a:chOff x="1172584" y="1381459"/>
            <a:chExt cx="6779110" cy="923330"/>
          </a:xfrm>
        </p:grpSpPr>
        <p:sp>
          <p:nvSpPr>
            <p:cNvPr id="14" name="TextBox 13"/>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3EC9A-B094-4092-8061-75D86CB34931}" type="datetime1">
              <a:rPr lang="en-US" smtClean="0"/>
              <a:t>30-Jun-23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12773" y="1678196"/>
            <a:ext cx="4563311"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922669" y="559399"/>
            <a:ext cx="5488889"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12773" y="3603813"/>
            <a:ext cx="4548967"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4E1AEED-2323-4359-853E-316DF6600362}" type="datetime1">
              <a:rPr lang="en-US" smtClean="0"/>
              <a:t>30-Jun-23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03642" y="4668819"/>
            <a:ext cx="10356028"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911723" y="666965"/>
            <a:ext cx="6362875"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7986" y="5324306"/>
            <a:ext cx="10341685"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33AC2DF-F1FD-4724-A563-92BADFC82ECC}" type="datetime1">
              <a:rPr lang="en-US" smtClean="0"/>
              <a:t>30-Jun-23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9932EDF-E99E-4C68-AFCB-7A835B309D6D}" type="datetime1">
              <a:rPr lang="en-US" smtClean="0"/>
              <a:t>30-Jun-23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grpSp>
        <p:nvGrpSpPr>
          <p:cNvPr id="11" name="Group 10"/>
          <p:cNvGrpSpPr/>
          <p:nvPr/>
        </p:nvGrpSpPr>
        <p:grpSpPr>
          <a:xfrm>
            <a:off x="1563446" y="1392217"/>
            <a:ext cx="9038813" cy="923330"/>
            <a:chOff x="1172584" y="1381459"/>
            <a:chExt cx="6779110" cy="923330"/>
          </a:xfrm>
        </p:grpSpPr>
        <p:sp>
          <p:nvSpPr>
            <p:cNvPr id="15" name="TextBox 14"/>
            <p:cNvSpPr txBox="1"/>
            <p:nvPr/>
          </p:nvSpPr>
          <p:spPr>
            <a:xfrm>
              <a:off x="4147073" y="1381459"/>
              <a:ext cx="657872"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22081" y="559399"/>
            <a:ext cx="2237591"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7985" y="849855"/>
            <a:ext cx="7343889"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F82D85F-A551-4C69-800A-8CFFA2306A88}" type="datetime1">
              <a:rPr lang="en-US" smtClean="0"/>
              <a:t>30-Jun-23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a:p>
        </p:txBody>
      </p:sp>
      <p:grpSp>
        <p:nvGrpSpPr>
          <p:cNvPr id="11" name="Group 10"/>
          <p:cNvGrpSpPr/>
          <p:nvPr/>
        </p:nvGrpSpPr>
        <p:grpSpPr>
          <a:xfrm rot="5400000">
            <a:off x="6125426" y="2880824"/>
            <a:ext cx="5480154" cy="923330"/>
            <a:chOff x="1815339" y="1496875"/>
            <a:chExt cx="5480154" cy="692497"/>
          </a:xfrm>
        </p:grpSpPr>
        <p:sp>
          <p:nvSpPr>
            <p:cNvPr id="12" name="TextBox 11"/>
            <p:cNvSpPr txBox="1"/>
            <p:nvPr/>
          </p:nvSpPr>
          <p:spPr>
            <a:xfrm>
              <a:off x="4147073" y="1496875"/>
              <a:ext cx="877163" cy="692497"/>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7987" y="570156"/>
            <a:ext cx="10341684"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932330" y="2248348"/>
            <a:ext cx="10327340"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80504" y="6161443"/>
            <a:ext cx="2844800" cy="365125"/>
          </a:xfrm>
          <a:prstGeom prst="rect">
            <a:avLst/>
          </a:prstGeom>
        </p:spPr>
        <p:txBody>
          <a:bodyPr vert="horz" lIns="91440" tIns="45720" rIns="91440" bIns="45720" rtlCol="0" anchor="ctr"/>
          <a:lstStyle>
            <a:lvl1pPr algn="l">
              <a:defRPr sz="1200">
                <a:solidFill>
                  <a:schemeClr val="tx2"/>
                </a:solidFill>
              </a:defRPr>
            </a:lvl1pPr>
          </a:lstStyle>
          <a:p>
            <a:fld id="{8D20E2CF-D74B-4B51-899A-DCEA821C90C7}" type="datetime1">
              <a:rPr lang="en-US" smtClean="0"/>
              <a:t>30-Jun-23</a:t>
            </a:fld>
            <a:endParaRPr lang="en-US"/>
          </a:p>
        </p:txBody>
      </p:sp>
      <p:sp>
        <p:nvSpPr>
          <p:cNvPr id="5" name="Footer Placeholder 4"/>
          <p:cNvSpPr>
            <a:spLocks noGrp="1"/>
          </p:cNvSpPr>
          <p:nvPr>
            <p:ph type="ftr" sz="quarter" idx="3"/>
          </p:nvPr>
        </p:nvSpPr>
        <p:spPr>
          <a:xfrm>
            <a:off x="4165600" y="6161443"/>
            <a:ext cx="38608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8852352" y="6161443"/>
            <a:ext cx="2844800" cy="365125"/>
          </a:xfrm>
          <a:prstGeom prst="rect">
            <a:avLst/>
          </a:prstGeom>
        </p:spPr>
        <p:txBody>
          <a:bodyPr vert="horz" lIns="91440" tIns="45720" rIns="91440" bIns="45720" rtlCol="0" anchor="ctr"/>
          <a:lstStyle>
            <a:lvl1pPr algn="r">
              <a:defRPr sz="1200">
                <a:solidFill>
                  <a:schemeClr val="tx2"/>
                </a:solidFill>
              </a:defRPr>
            </a:lvl1pPr>
          </a:lstStyle>
          <a:p>
            <a:fld id="{401CF334-2D5C-4859-84A6-CA7E6E43FAE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ftr="0" dt="0"/>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04194" y="1844566"/>
            <a:ext cx="10972800" cy="1374228"/>
          </a:xfrm>
        </p:spPr>
        <p:txBody>
          <a:bodyPr>
            <a:noAutofit/>
          </a:bodyPr>
          <a:lstStyle/>
          <a:p>
            <a:pPr algn="ctr"/>
            <a:r>
              <a:rPr lang="en-US" sz="4000" b="1" dirty="0">
                <a:solidFill>
                  <a:srgbClr val="FFFF00"/>
                </a:solidFill>
              </a:rPr>
              <a:t/>
            </a:r>
            <a:br>
              <a:rPr lang="en-US" sz="4000" b="1" dirty="0">
                <a:solidFill>
                  <a:srgbClr val="FFFF00"/>
                </a:solidFill>
              </a:rPr>
            </a:br>
            <a:r>
              <a:rPr lang="en-US" sz="4000" b="1" dirty="0">
                <a:solidFill>
                  <a:srgbClr val="FFFF00"/>
                </a:solidFill>
              </a:rPr>
              <a:t/>
            </a:r>
            <a:br>
              <a:rPr lang="en-US" sz="4000" b="1" dirty="0">
                <a:solidFill>
                  <a:srgbClr val="FFFF00"/>
                </a:solidFill>
              </a:rPr>
            </a:br>
            <a:r>
              <a:rPr lang="en-US" sz="4000" b="1" dirty="0">
                <a:solidFill>
                  <a:srgbClr val="FFFF00"/>
                </a:solidFill>
              </a:rPr>
              <a:t/>
            </a:r>
            <a:br>
              <a:rPr lang="en-US" sz="4000" b="1" dirty="0">
                <a:solidFill>
                  <a:srgbClr val="FFFF00"/>
                </a:solidFill>
              </a:rPr>
            </a:br>
            <a:r>
              <a:rPr lang="en-US" sz="4000" b="1" dirty="0">
                <a:solidFill>
                  <a:srgbClr val="FFFF00"/>
                </a:solidFill>
              </a:rPr>
              <a:t/>
            </a:r>
            <a:br>
              <a:rPr lang="en-US" sz="4000" b="1" dirty="0">
                <a:solidFill>
                  <a:srgbClr val="FFFF00"/>
                </a:solidFill>
              </a:rPr>
            </a:br>
            <a:r>
              <a:rPr lang="en-US" sz="4000" b="1" dirty="0">
                <a:solidFill>
                  <a:srgbClr val="FFFF00"/>
                </a:solidFill>
              </a:rPr>
              <a:t>   Health Analysis Using Microsoft Power </a:t>
            </a:r>
            <a:r>
              <a:rPr lang="en-US" sz="4000" b="1" dirty="0" smtClean="0">
                <a:solidFill>
                  <a:srgbClr val="FFFF00"/>
                </a:solidFill>
              </a:rPr>
              <a:t>BI and python</a:t>
            </a:r>
            <a:endParaRPr lang="en-US" sz="4000" b="1" dirty="0">
              <a:solidFill>
                <a:srgbClr val="FFFF00"/>
              </a:solidFill>
            </a:endParaRPr>
          </a:p>
        </p:txBody>
      </p:sp>
      <p:sp>
        <p:nvSpPr>
          <p:cNvPr id="3" name="Subtitle 2"/>
          <p:cNvSpPr>
            <a:spLocks noGrp="1"/>
          </p:cNvSpPr>
          <p:nvPr>
            <p:ph type="subTitle" idx="1"/>
          </p:nvPr>
        </p:nvSpPr>
        <p:spPr>
          <a:xfrm>
            <a:off x="1828800" y="4013331"/>
            <a:ext cx="8534400" cy="1752600"/>
          </a:xfrm>
        </p:spPr>
        <p:txBody>
          <a:bodyPr>
            <a:normAutofit/>
          </a:bodyPr>
          <a:lstStyle/>
          <a:p>
            <a:pPr algn="ctr"/>
            <a:r>
              <a:rPr lang="en-US" b="1" dirty="0" smtClean="0">
                <a:solidFill>
                  <a:srgbClr val="FFFF00"/>
                </a:solidFill>
              </a:rPr>
              <a:t>PRATHMESH PATIL A-38</a:t>
            </a:r>
          </a:p>
          <a:p>
            <a:pPr algn="ctr"/>
            <a:r>
              <a:rPr lang="en-US" b="1" dirty="0" smtClean="0">
                <a:solidFill>
                  <a:srgbClr val="FFFF00"/>
                </a:solidFill>
              </a:rPr>
              <a:t>SAISHA PATIL A-39</a:t>
            </a:r>
            <a:endParaRPr lang="en-US" b="1" dirty="0">
              <a:solidFill>
                <a:srgbClr val="FFFF00"/>
              </a:solidFill>
            </a:endParaRPr>
          </a:p>
        </p:txBody>
      </p:sp>
      <p:pic>
        <p:nvPicPr>
          <p:cNvPr id="6" name="Picture 5">
            <a:extLst>
              <a:ext uri="{FF2B5EF4-FFF2-40B4-BE49-F238E27FC236}">
                <a16:creationId xmlns="" xmlns:a16="http://schemas.microsoft.com/office/drawing/2014/main" id="{DD6E3052-E8D7-5AF4-314D-9FEF3EDF18F2}"/>
              </a:ext>
            </a:extLst>
          </p:cNvPr>
          <p:cNvPicPr/>
          <p:nvPr/>
        </p:nvPicPr>
        <p:blipFill>
          <a:blip r:embed="rId3"/>
          <a:stretch>
            <a:fillRect/>
          </a:stretch>
        </p:blipFill>
        <p:spPr>
          <a:xfrm>
            <a:off x="4753590" y="420969"/>
            <a:ext cx="1994052" cy="1423597"/>
          </a:xfrm>
          <a:prstGeom prst="rect">
            <a:avLst/>
          </a:prstGeom>
          <a:effectLst>
            <a:glow rad="127000">
              <a:schemeClr val="accent1">
                <a:alpha val="27000"/>
              </a:schemeClr>
            </a:glow>
            <a:reflection stA="21000" endPos="65000" dist="50800" dir="5400000" sy="-100000" algn="bl" rotWithShape="0"/>
          </a:effectLst>
        </p:spPr>
      </p:pic>
    </p:spTree>
    <p:extLst>
      <p:ext uri="{BB962C8B-B14F-4D97-AF65-F5344CB8AC3E}">
        <p14:creationId xmlns:p14="http://schemas.microsoft.com/office/powerpoint/2010/main" val="1297645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p:txBody>
          <a:bodyPr>
            <a:normAutofit lnSpcReduction="10000"/>
          </a:bodyPr>
          <a:lstStyle/>
          <a:p>
            <a:pPr lvl="0"/>
            <a:r>
              <a:rPr lang="en-US" dirty="0"/>
              <a:t>Health care analytics uses current and historical data to gain insights, macro and micro, and support decision-making at both the patient and business level.</a:t>
            </a:r>
          </a:p>
          <a:p>
            <a:pPr lvl="0"/>
            <a:r>
              <a:rPr lang="en-US" dirty="0"/>
              <a:t>The use of health data analytics allows for improvements to patient care, faster and more accurate diagnoses, preventive measures, more personalized treatment and more informed decision-making.</a:t>
            </a:r>
          </a:p>
          <a:p>
            <a:pPr lvl="0"/>
            <a:r>
              <a:rPr lang="en-US" dirty="0"/>
              <a:t>Health data is any data relating to the health of an individual patient or collective population.</a:t>
            </a:r>
          </a:p>
          <a:p>
            <a:pPr lvl="0"/>
            <a:r>
              <a:rPr lang="en-US" dirty="0"/>
              <a:t>With digital data collection, there is more and more health care data to be analyzed every second.</a:t>
            </a:r>
          </a:p>
        </p:txBody>
      </p:sp>
      <p:sp>
        <p:nvSpPr>
          <p:cNvPr id="13" name="Title 12"/>
          <p:cNvSpPr>
            <a:spLocks noGrp="1"/>
          </p:cNvSpPr>
          <p:nvPr>
            <p:ph type="title"/>
          </p:nvPr>
        </p:nvSpPr>
        <p:spPr/>
        <p:txBody>
          <a:bodyPr/>
          <a:lstStyle/>
          <a:p>
            <a:r>
              <a:rPr lang="en-US" dirty="0">
                <a:solidFill>
                  <a:srgbClr val="002060"/>
                </a:solidFill>
              </a:rPr>
              <a:t>Introduction</a:t>
            </a:r>
          </a:p>
        </p:txBody>
      </p:sp>
    </p:spTree>
    <p:extLst>
      <p:ext uri="{BB962C8B-B14F-4D97-AF65-F5344CB8AC3E}">
        <p14:creationId xmlns:p14="http://schemas.microsoft.com/office/powerpoint/2010/main" val="43551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27BED754-3704-AD8C-DDF9-5D1C33C64869}"/>
              </a:ext>
            </a:extLst>
          </p:cNvPr>
          <p:cNvSpPr>
            <a:spLocks noGrp="1"/>
          </p:cNvSpPr>
          <p:nvPr>
            <p:ph idx="1"/>
          </p:nvPr>
        </p:nvSpPr>
        <p:spPr>
          <a:xfrm>
            <a:off x="609600" y="320842"/>
            <a:ext cx="10972800" cy="5988518"/>
          </a:xfrm>
        </p:spPr>
        <p:txBody>
          <a:bodyPr/>
          <a:lstStyle/>
          <a:p>
            <a:r>
              <a:rPr lang="en-US" dirty="0"/>
              <a:t>Thus in this project we are collecting medical data of the people residing in particular region and analyze their health depending upon various attributes</a:t>
            </a:r>
            <a:r>
              <a:rPr lang="en-US" dirty="0" smtClean="0"/>
              <a:t>.</a:t>
            </a:r>
          </a:p>
          <a:p>
            <a:r>
              <a:rPr lang="en-US" dirty="0" smtClean="0"/>
              <a:t>Upon collecting the data, we will apply CART algorithm over the data and create a model which will predict the physical health of an individual.</a:t>
            </a:r>
            <a:endParaRPr lang="en-US" dirty="0"/>
          </a:p>
        </p:txBody>
      </p:sp>
    </p:spTree>
    <p:extLst>
      <p:ext uri="{BB962C8B-B14F-4D97-AF65-F5344CB8AC3E}">
        <p14:creationId xmlns:p14="http://schemas.microsoft.com/office/powerpoint/2010/main" val="1297125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972F1FE3-1EFC-AC63-82C3-11DB287C77C0}"/>
              </a:ext>
            </a:extLst>
          </p:cNvPr>
          <p:cNvSpPr>
            <a:spLocks noGrp="1"/>
          </p:cNvSpPr>
          <p:nvPr>
            <p:ph idx="1"/>
          </p:nvPr>
        </p:nvSpPr>
        <p:spPr/>
        <p:txBody>
          <a:bodyPr>
            <a:normAutofit fontScale="92500"/>
          </a:bodyPr>
          <a:lstStyle/>
          <a:p>
            <a:r>
              <a:rPr lang="en-US" dirty="0"/>
              <a:t>The attributes of each person will be included in the data, including their age, gender, standard of living, level of fitness, brief medical history, location, etc. </a:t>
            </a:r>
          </a:p>
          <a:p>
            <a:pPr algn="just"/>
            <a:r>
              <a:rPr lang="en-IN" dirty="0"/>
              <a:t>The objective of the project is to use a machine learning algorithm over the collected data and predict the outcome. A decision tree would be shown as an output of the processed data. The processing would be done on the collected attributes such as region, age groups and overall health habits. This kind of processing is also called as prescriptive analysis. </a:t>
            </a:r>
          </a:p>
          <a:p>
            <a:pPr algn="just"/>
            <a:r>
              <a:rPr lang="en-IN" dirty="0"/>
              <a:t>In this project we are going to use the CART algorithm for the prediction. CART is a predictive algorithm used in machine learning and it explains how the target variable’s values can be predicted based on other matters.</a:t>
            </a:r>
          </a:p>
          <a:p>
            <a:endParaRPr lang="en-US" dirty="0"/>
          </a:p>
        </p:txBody>
      </p:sp>
      <p:sp>
        <p:nvSpPr>
          <p:cNvPr id="3" name="Title 2">
            <a:extLst>
              <a:ext uri="{FF2B5EF4-FFF2-40B4-BE49-F238E27FC236}">
                <a16:creationId xmlns="" xmlns:a16="http://schemas.microsoft.com/office/drawing/2014/main" id="{FAAFE32A-5DAA-4A88-7FE9-F33EC0AE75A1}"/>
              </a:ext>
            </a:extLst>
          </p:cNvPr>
          <p:cNvSpPr>
            <a:spLocks noGrp="1"/>
          </p:cNvSpPr>
          <p:nvPr>
            <p:ph type="title"/>
          </p:nvPr>
        </p:nvSpPr>
        <p:spPr/>
        <p:txBody>
          <a:bodyPr/>
          <a:lstStyle/>
          <a:p>
            <a:r>
              <a:rPr lang="en-US" dirty="0">
                <a:solidFill>
                  <a:srgbClr val="002060"/>
                </a:solidFill>
              </a:rPr>
              <a:t>Objective</a:t>
            </a:r>
          </a:p>
        </p:txBody>
      </p:sp>
    </p:spTree>
    <p:extLst>
      <p:ext uri="{BB962C8B-B14F-4D97-AF65-F5344CB8AC3E}">
        <p14:creationId xmlns:p14="http://schemas.microsoft.com/office/powerpoint/2010/main" val="395312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EFC57375-843B-2D88-4648-1FDA99DA3E1E}"/>
              </a:ext>
            </a:extLst>
          </p:cNvPr>
          <p:cNvSpPr>
            <a:spLocks noGrp="1"/>
          </p:cNvSpPr>
          <p:nvPr>
            <p:ph idx="1"/>
          </p:nvPr>
        </p:nvSpPr>
        <p:spPr>
          <a:xfrm>
            <a:off x="609600" y="1283368"/>
            <a:ext cx="10972800" cy="5025992"/>
          </a:xfrm>
        </p:spPr>
        <p:txBody>
          <a:bodyPr>
            <a:normAutofit fontScale="92500" lnSpcReduction="10000"/>
          </a:bodyPr>
          <a:lstStyle/>
          <a:p>
            <a:pPr marL="0" marR="0" indent="-6350">
              <a:lnSpc>
                <a:spcPct val="107000"/>
              </a:lnSpc>
              <a:spcBef>
                <a:spcPts val="0"/>
              </a:spcBef>
              <a:spcAft>
                <a:spcPts val="1080"/>
              </a:spcAft>
            </a:pPr>
            <a:r>
              <a:rPr lang="en-IN" b="1" u="sng" dirty="0">
                <a:solidFill>
                  <a:srgbClr val="002060"/>
                </a:solidFill>
                <a:effectLst/>
                <a:ea typeface="Times New Roman" panose="02020603050405020304" pitchFamily="18" charset="0"/>
              </a:rPr>
              <a:t>Software Requirements :-</a:t>
            </a:r>
            <a:endParaRPr lang="en-US" u="sng" dirty="0">
              <a:solidFill>
                <a:srgbClr val="002060"/>
              </a:solidFill>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These are the software requirements for the project:</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Tool used: Microsoft Power </a:t>
            </a:r>
            <a:r>
              <a:rPr lang="en-IN" dirty="0" smtClean="0">
                <a:effectLst/>
                <a:ea typeface="Times New Roman" panose="02020603050405020304" pitchFamily="18" charset="0"/>
              </a:rPr>
              <a:t>BI, Visual Studio Code, </a:t>
            </a:r>
            <a:r>
              <a:rPr lang="en-IN" dirty="0" err="1">
                <a:ea typeface="Times New Roman" panose="02020603050405020304" pitchFamily="18" charset="0"/>
              </a:rPr>
              <a:t>J</a:t>
            </a:r>
            <a:r>
              <a:rPr lang="en-IN" dirty="0" err="1" smtClean="0">
                <a:effectLst/>
                <a:ea typeface="Times New Roman" panose="02020603050405020304" pitchFamily="18" charset="0"/>
              </a:rPr>
              <a:t>upyter</a:t>
            </a:r>
            <a:r>
              <a:rPr lang="en-IN" dirty="0" smtClean="0">
                <a:effectLst/>
                <a:ea typeface="Times New Roman" panose="02020603050405020304" pitchFamily="18" charset="0"/>
              </a:rPr>
              <a:t> </a:t>
            </a:r>
            <a:r>
              <a:rPr lang="en-IN" dirty="0" smtClean="0">
                <a:effectLst/>
                <a:ea typeface="Times New Roman" panose="02020603050405020304" pitchFamily="18" charset="0"/>
              </a:rPr>
              <a:t>Notebook</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Operating system: Windows 11/10/8/7 64-bit operating system</a:t>
            </a:r>
          </a:p>
          <a:p>
            <a:pPr marL="0" marR="0" indent="-6350">
              <a:lnSpc>
                <a:spcPct val="107000"/>
              </a:lnSpc>
              <a:spcBef>
                <a:spcPts val="0"/>
              </a:spcBef>
              <a:spcAft>
                <a:spcPts val="1080"/>
              </a:spcAft>
            </a:pPr>
            <a:r>
              <a:rPr lang="en-IN" b="1" u="sng" dirty="0">
                <a:solidFill>
                  <a:srgbClr val="002060"/>
                </a:solidFill>
                <a:effectLst/>
                <a:ea typeface="Times New Roman" panose="02020603050405020304" pitchFamily="18" charset="0"/>
              </a:rPr>
              <a:t>Hardware Requirements :-</a:t>
            </a:r>
            <a:endParaRPr lang="en-US" u="sng" dirty="0">
              <a:solidFill>
                <a:srgbClr val="002060"/>
              </a:solidFill>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These are the minimum hardware requirements for the project:</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Ram:  4 GB or higher.</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Processor: 9th Gen Intel(R) Core(TM) i5-12400   2.50 GHz or higher.</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HDD: 256 GB or higher.</a:t>
            </a:r>
            <a:endParaRPr lang="en-US" dirty="0">
              <a:effectLst/>
              <a:ea typeface="Calibri" panose="020F0502020204030204" pitchFamily="34" charset="0"/>
            </a:endParaRPr>
          </a:p>
          <a:p>
            <a:pPr marL="450850" marR="0" indent="-457200">
              <a:lnSpc>
                <a:spcPct val="107000"/>
              </a:lnSpc>
              <a:spcBef>
                <a:spcPts val="0"/>
              </a:spcBef>
              <a:spcAft>
                <a:spcPts val="1080"/>
              </a:spcAft>
              <a:buFont typeface="Wingdings" panose="05000000000000000000" pitchFamily="2" charset="2"/>
              <a:buChar char="q"/>
            </a:pPr>
            <a:r>
              <a:rPr lang="en-IN" dirty="0">
                <a:effectLst/>
                <a:ea typeface="Times New Roman" panose="02020603050405020304" pitchFamily="18" charset="0"/>
              </a:rPr>
              <a:t>Monitor: 1024 x 768 minimum screen resolution</a:t>
            </a:r>
            <a:r>
              <a:rPr lang="en-IN" dirty="0">
                <a:solidFill>
                  <a:srgbClr val="000000"/>
                </a:solidFill>
                <a:effectLst/>
                <a:latin typeface="Times New Roman" panose="02020603050405020304" pitchFamily="18" charset="0"/>
                <a:ea typeface="Times New Roman" panose="02020603050405020304" pitchFamily="18" charset="0"/>
              </a:rPr>
              <a:t>. </a:t>
            </a:r>
            <a:endParaRPr lang="en-US" dirty="0">
              <a:solidFill>
                <a:srgbClr val="000000"/>
              </a:solidFill>
              <a:effectLst/>
              <a:latin typeface="Calibri" panose="020F0502020204030204" pitchFamily="34" charset="0"/>
              <a:ea typeface="Calibri" panose="020F0502020204030204" pitchFamily="34" charset="0"/>
            </a:endParaRPr>
          </a:p>
          <a:p>
            <a:pPr marL="0" marR="0" indent="-6350">
              <a:lnSpc>
                <a:spcPct val="107000"/>
              </a:lnSpc>
              <a:spcBef>
                <a:spcPts val="0"/>
              </a:spcBef>
              <a:spcAft>
                <a:spcPts val="1080"/>
              </a:spcAft>
            </a:pPr>
            <a:endParaRPr lang="en-US" sz="1800" dirty="0">
              <a:solidFill>
                <a:srgbClr val="000000"/>
              </a:solidFill>
              <a:effectLst/>
              <a:latin typeface="Calibri" panose="020F0502020204030204" pitchFamily="34" charset="0"/>
              <a:ea typeface="Calibri" panose="020F0502020204030204" pitchFamily="34" charset="0"/>
            </a:endParaRPr>
          </a:p>
          <a:p>
            <a:endParaRPr lang="en-US" dirty="0"/>
          </a:p>
        </p:txBody>
      </p:sp>
      <p:sp>
        <p:nvSpPr>
          <p:cNvPr id="3" name="Title 2">
            <a:extLst>
              <a:ext uri="{FF2B5EF4-FFF2-40B4-BE49-F238E27FC236}">
                <a16:creationId xmlns="" xmlns:a16="http://schemas.microsoft.com/office/drawing/2014/main" id="{ED9ACE71-A1EB-5546-D24F-1B90FA78E16F}"/>
              </a:ext>
            </a:extLst>
          </p:cNvPr>
          <p:cNvSpPr>
            <a:spLocks noGrp="1"/>
          </p:cNvSpPr>
          <p:nvPr>
            <p:ph type="title"/>
          </p:nvPr>
        </p:nvSpPr>
        <p:spPr>
          <a:xfrm>
            <a:off x="917987" y="570156"/>
            <a:ext cx="10341684" cy="628023"/>
          </a:xfrm>
        </p:spPr>
        <p:txBody>
          <a:bodyPr/>
          <a:lstStyle/>
          <a:p>
            <a:r>
              <a:rPr lang="en-US" dirty="0">
                <a:solidFill>
                  <a:srgbClr val="002060"/>
                </a:solidFill>
              </a:rPr>
              <a:t>Tools Used</a:t>
            </a:r>
          </a:p>
        </p:txBody>
      </p:sp>
    </p:spTree>
    <p:extLst>
      <p:ext uri="{BB962C8B-B14F-4D97-AF65-F5344CB8AC3E}">
        <p14:creationId xmlns:p14="http://schemas.microsoft.com/office/powerpoint/2010/main" val="4090108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32330" y="378372"/>
            <a:ext cx="10327340" cy="5747791"/>
          </a:xfrm>
        </p:spPr>
        <p:txBody>
          <a:bodyPr/>
          <a:lstStyle/>
          <a:p>
            <a:endParaRPr lang="en-US" dirty="0" smtClean="0"/>
          </a:p>
          <a:p>
            <a:endParaRPr lang="en-US" dirty="0"/>
          </a:p>
          <a:p>
            <a:endParaRPr lang="en-US" dirty="0" smtClean="0"/>
          </a:p>
          <a:p>
            <a:endParaRPr lang="en-US" dirty="0"/>
          </a:p>
          <a:p>
            <a:r>
              <a:rPr lang="en-US" sz="3200" b="1" dirty="0" smtClean="0"/>
              <a:t>FLASK:</a:t>
            </a:r>
          </a:p>
          <a:p>
            <a:r>
              <a:rPr lang="en-US" dirty="0"/>
              <a:t>Flask is a popular web framework for building web applications using the Python programming language. It is designed to be lightweight and easy to use, allowing developers to quickly create web applications with minimal boilerplate code. Flask follows the Model-View-Controller (MVC) architectural pattern, although it is often considered a micro-framework because it does not require or enforce any particular project structure.</a:t>
            </a:r>
            <a:endParaRPr lang="en-US" dirty="0" smtClean="0"/>
          </a:p>
          <a:p>
            <a:endParaRPr lang="en-US" dirty="0"/>
          </a:p>
        </p:txBody>
      </p:sp>
    </p:spTree>
    <p:extLst>
      <p:ext uri="{BB962C8B-B14F-4D97-AF65-F5344CB8AC3E}">
        <p14:creationId xmlns:p14="http://schemas.microsoft.com/office/powerpoint/2010/main" val="345466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5737" y="993229"/>
            <a:ext cx="8970579" cy="5864772"/>
          </a:xfrm>
        </p:spPr>
      </p:pic>
      <p:sp>
        <p:nvSpPr>
          <p:cNvPr id="3" name="Title 2">
            <a:extLst>
              <a:ext uri="{FF2B5EF4-FFF2-40B4-BE49-F238E27FC236}">
                <a16:creationId xmlns="" xmlns:a16="http://schemas.microsoft.com/office/drawing/2014/main" id="{FA11CCB9-4659-FAE5-0D16-40D3FD2DD287}"/>
              </a:ext>
            </a:extLst>
          </p:cNvPr>
          <p:cNvSpPr>
            <a:spLocks noGrp="1"/>
          </p:cNvSpPr>
          <p:nvPr>
            <p:ph type="title"/>
          </p:nvPr>
        </p:nvSpPr>
        <p:spPr>
          <a:xfrm>
            <a:off x="609600" y="237907"/>
            <a:ext cx="10972800" cy="740661"/>
          </a:xfrm>
        </p:spPr>
        <p:txBody>
          <a:bodyPr/>
          <a:lstStyle/>
          <a:p>
            <a:r>
              <a:rPr lang="en-US" dirty="0">
                <a:solidFill>
                  <a:srgbClr val="002060"/>
                </a:solidFill>
              </a:rPr>
              <a:t>Use-Case Diagram</a:t>
            </a:r>
          </a:p>
        </p:txBody>
      </p:sp>
    </p:spTree>
    <p:extLst>
      <p:ext uri="{BB962C8B-B14F-4D97-AF65-F5344CB8AC3E}">
        <p14:creationId xmlns:p14="http://schemas.microsoft.com/office/powerpoint/2010/main" val="275006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Chart, diagram&#10;&#10;Description automatically generated">
            <a:extLst>
              <a:ext uri="{FF2B5EF4-FFF2-40B4-BE49-F238E27FC236}">
                <a16:creationId xmlns="" xmlns:a16="http://schemas.microsoft.com/office/drawing/2014/main" id="{35C2A203-4C5C-7179-F0C1-2ABA6A9AA53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09600" y="1315453"/>
            <a:ext cx="10972800" cy="4203031"/>
          </a:xfrm>
        </p:spPr>
      </p:pic>
      <p:sp>
        <p:nvSpPr>
          <p:cNvPr id="3" name="Title 2">
            <a:extLst>
              <a:ext uri="{FF2B5EF4-FFF2-40B4-BE49-F238E27FC236}">
                <a16:creationId xmlns="" xmlns:a16="http://schemas.microsoft.com/office/drawing/2014/main" id="{FA11CCB9-4659-FAE5-0D16-40D3FD2DD287}"/>
              </a:ext>
            </a:extLst>
          </p:cNvPr>
          <p:cNvSpPr>
            <a:spLocks noGrp="1"/>
          </p:cNvSpPr>
          <p:nvPr>
            <p:ph type="title"/>
          </p:nvPr>
        </p:nvSpPr>
        <p:spPr>
          <a:xfrm>
            <a:off x="609600" y="237907"/>
            <a:ext cx="10972800" cy="740661"/>
          </a:xfrm>
        </p:spPr>
        <p:txBody>
          <a:bodyPr/>
          <a:lstStyle/>
          <a:p>
            <a:r>
              <a:rPr lang="en-US" dirty="0">
                <a:solidFill>
                  <a:srgbClr val="002060"/>
                </a:solidFill>
              </a:rPr>
              <a:t>Data flow Diagram</a:t>
            </a:r>
          </a:p>
        </p:txBody>
      </p:sp>
    </p:spTree>
    <p:extLst>
      <p:ext uri="{BB962C8B-B14F-4D97-AF65-F5344CB8AC3E}">
        <p14:creationId xmlns:p14="http://schemas.microsoft.com/office/powerpoint/2010/main" val="149257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0" y="457200"/>
            <a:ext cx="10641724" cy="6172200"/>
          </a:xfrm>
        </p:spPr>
        <p:txBody>
          <a:bodyPr>
            <a:normAutofit/>
          </a:bodyPr>
          <a:lstStyle/>
          <a:p>
            <a:pPr algn="just"/>
            <a:r>
              <a:rPr lang="en-US" sz="2200" b="1" dirty="0"/>
              <a:t>CART( Classification And Regression Tree)</a:t>
            </a:r>
            <a:r>
              <a:rPr lang="en-US" sz="2200" dirty="0"/>
              <a:t> is a  variation of the decision tree algorithm. It can handle both </a:t>
            </a:r>
            <a:r>
              <a:rPr lang="en-US" sz="2200" dirty="0" smtClean="0"/>
              <a:t>classification and regression tasks.</a:t>
            </a:r>
          </a:p>
          <a:p>
            <a:pPr algn="just"/>
            <a:r>
              <a:rPr lang="en-IN" sz="2200" dirty="0" smtClean="0"/>
              <a:t>It is a decision tree where each fork is split into a predictor variable and each node has a prediction for the target variable at the end. </a:t>
            </a:r>
          </a:p>
          <a:p>
            <a:pPr algn="just"/>
            <a:r>
              <a:rPr lang="en-IN" sz="2200" dirty="0" smtClean="0"/>
              <a:t>In the decision tree, nodes are split into sub-nodes on the basis of a threshold value of an attribute. The root node is taken as the training set and is split into two by considering the best attribute and threshold value. Further, the subsets are also split using the same logic. This continues till the last pure sub-set is found in the tree or the maximum number of leaves possible in that growing tree</a:t>
            </a:r>
            <a:r>
              <a:rPr lang="en-IN" sz="2000" dirty="0" smtClean="0"/>
              <a:t>.</a:t>
            </a:r>
          </a:p>
          <a:p>
            <a:pPr algn="just"/>
            <a:endParaRPr lang="en-US" sz="2400"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932" y="3799491"/>
            <a:ext cx="8020202" cy="277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8870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4139" y="1277008"/>
            <a:ext cx="11223352" cy="5442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a:extLst>
              <a:ext uri="{FF2B5EF4-FFF2-40B4-BE49-F238E27FC236}">
                <a16:creationId xmlns="" xmlns:a16="http://schemas.microsoft.com/office/drawing/2014/main" id="{4FB1EE76-CE27-94F6-CDDF-BBF4FA9F44C7}"/>
              </a:ext>
            </a:extLst>
          </p:cNvPr>
          <p:cNvSpPr>
            <a:spLocks noGrp="1"/>
          </p:cNvSpPr>
          <p:nvPr>
            <p:ph type="title"/>
          </p:nvPr>
        </p:nvSpPr>
        <p:spPr>
          <a:xfrm>
            <a:off x="823393" y="302142"/>
            <a:ext cx="10341684" cy="643789"/>
          </a:xfrm>
        </p:spPr>
        <p:txBody>
          <a:bodyPr/>
          <a:lstStyle/>
          <a:p>
            <a:r>
              <a:rPr lang="en-US" dirty="0">
                <a:solidFill>
                  <a:srgbClr val="002060"/>
                </a:solidFill>
              </a:rPr>
              <a:t>Screenshots</a:t>
            </a:r>
          </a:p>
        </p:txBody>
      </p:sp>
    </p:spTree>
    <p:extLst>
      <p:ext uri="{BB962C8B-B14F-4D97-AF65-F5344CB8AC3E}">
        <p14:creationId xmlns:p14="http://schemas.microsoft.com/office/powerpoint/2010/main" val="223531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403" y="693682"/>
            <a:ext cx="11285438" cy="5648825"/>
          </a:xfrm>
          <a:prstGeom prst="rect">
            <a:avLst/>
          </a:prstGeom>
        </p:spPr>
      </p:pic>
    </p:spTree>
    <p:extLst>
      <p:ext uri="{BB962C8B-B14F-4D97-AF65-F5344CB8AC3E}">
        <p14:creationId xmlns:p14="http://schemas.microsoft.com/office/powerpoint/2010/main" val="3367041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780" y="525529"/>
            <a:ext cx="11619186" cy="5924760"/>
          </a:xfrm>
          <a:prstGeom prst="rect">
            <a:avLst/>
          </a:prstGeom>
        </p:spPr>
      </p:pic>
    </p:spTree>
    <p:extLst>
      <p:ext uri="{BB962C8B-B14F-4D97-AF65-F5344CB8AC3E}">
        <p14:creationId xmlns:p14="http://schemas.microsoft.com/office/powerpoint/2010/main" val="213426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123" y="365902"/>
            <a:ext cx="11918731" cy="5988883"/>
          </a:xfrm>
          <a:prstGeom prst="rect">
            <a:avLst/>
          </a:prstGeom>
        </p:spPr>
      </p:pic>
    </p:spTree>
    <p:extLst>
      <p:ext uri="{BB962C8B-B14F-4D97-AF65-F5344CB8AC3E}">
        <p14:creationId xmlns:p14="http://schemas.microsoft.com/office/powerpoint/2010/main" val="3778131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716" y="571833"/>
            <a:ext cx="11776841" cy="5885238"/>
          </a:xfrm>
          <a:prstGeom prst="rect">
            <a:avLst/>
          </a:prstGeom>
        </p:spPr>
      </p:pic>
    </p:spTree>
    <p:extLst>
      <p:ext uri="{BB962C8B-B14F-4D97-AF65-F5344CB8AC3E}">
        <p14:creationId xmlns:p14="http://schemas.microsoft.com/office/powerpoint/2010/main" val="399274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528AF87B-830D-F575-7FB0-739DCEF19092}"/>
              </a:ext>
            </a:extLst>
          </p:cNvPr>
          <p:cNvSpPr>
            <a:spLocks noGrp="1"/>
          </p:cNvSpPr>
          <p:nvPr>
            <p:ph type="ctrTitle"/>
          </p:nvPr>
        </p:nvSpPr>
        <p:spPr>
          <a:xfrm>
            <a:off x="641131" y="1994338"/>
            <a:ext cx="10972800" cy="1399674"/>
          </a:xfrm>
        </p:spPr>
        <p:txBody>
          <a:bodyPr/>
          <a:lstStyle/>
          <a:p>
            <a:pPr algn="ctr"/>
            <a:r>
              <a:rPr lang="en-US" dirty="0">
                <a:solidFill>
                  <a:srgbClr val="FFFF00"/>
                </a:solidFill>
              </a:rPr>
              <a:t>Thank you</a:t>
            </a:r>
          </a:p>
        </p:txBody>
      </p:sp>
    </p:spTree>
    <p:extLst>
      <p:ext uri="{BB962C8B-B14F-4D97-AF65-F5344CB8AC3E}">
        <p14:creationId xmlns:p14="http://schemas.microsoft.com/office/powerpoint/2010/main" val="4096882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856783</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2012-09-20T10:48:20+00:00</AssetStart>
    <FriendlyTitle xmlns="4873beb7-5857-4685-be1f-d57550cc96cc" xsi:nil="true"/>
    <MarketSpecific xmlns="4873beb7-5857-4685-be1f-d57550cc96cc">false</MarketSpecific>
    <TPNamespace xmlns="4873beb7-5857-4685-be1f-d57550cc96cc" xsi:nil="true"/>
    <PublishStatusLookup xmlns="4873beb7-5857-4685-be1f-d57550cc96cc">
      <Value>1622871</Value>
    </PublishStatusLookup>
    <APAuthor xmlns="4873beb7-5857-4685-be1f-d57550cc96cc">
      <UserInfo>
        <DisplayName>REDMOND\v-luannv</DisplayName>
        <AccountId>92</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 xsi:nil="true"/>
    <MachineTranslated xmlns="4873beb7-5857-4685-be1f-d57550cc96cc">false</MachineTranslated>
    <OutputCachingOn xmlns="4873beb7-5857-4685-be1f-d57550cc96cc">false</OutputCachingOn>
    <TemplateStatus xmlns="4873beb7-5857-4685-be1f-d57550cc96cc">Complete</TemplateStatus>
    <IsSearchable xmlns="4873beb7-5857-4685-be1f-d57550cc96cc">false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TP103460417</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D1C9B0-FE26-433B-8E1A-54CCDFA4EB1D}">
  <ds:schemaRefs>
    <ds:schemaRef ds:uri="http://purl.org/dc/terms/"/>
    <ds:schemaRef ds:uri="http://purl.org/dc/dcmitype/"/>
    <ds:schemaRef ds:uri="4873beb7-5857-4685-be1f-d57550cc96cc"/>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elements/1.1/"/>
  </ds:schemaRefs>
</ds:datastoreItem>
</file>

<file path=customXml/itemProps2.xml><?xml version="1.0" encoding="utf-8"?>
<ds:datastoreItem xmlns:ds="http://schemas.openxmlformats.org/officeDocument/2006/customXml" ds:itemID="{100AC149-8447-4BE5-88C7-DBE24EA73E83}">
  <ds:schemaRefs>
    <ds:schemaRef ds:uri="http://schemas.microsoft.com/sharepoint/v3/contenttype/forms"/>
  </ds:schemaRefs>
</ds:datastoreItem>
</file>

<file path=customXml/itemProps3.xml><?xml version="1.0" encoding="utf-8"?>
<ds:datastoreItem xmlns:ds="http://schemas.openxmlformats.org/officeDocument/2006/customXml" ds:itemID="{79EEAAAD-F811-4325-83A2-D14EDE05FB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Hardcover</Template>
  <TotalTime>264</TotalTime>
  <Words>446</Words>
  <Application>Microsoft Office PowerPoint</Application>
  <PresentationFormat>Custom</PresentationFormat>
  <Paragraphs>39</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Hardcover</vt:lpstr>
      <vt:lpstr>       Health Analysis Using Microsoft Power BI and python</vt:lpstr>
      <vt:lpstr>Introduction</vt:lpstr>
      <vt:lpstr>PowerPoint Presentation</vt:lpstr>
      <vt:lpstr>Objective</vt:lpstr>
      <vt:lpstr>Tools Used</vt:lpstr>
      <vt:lpstr>PowerPoint Presentation</vt:lpstr>
      <vt:lpstr>Use-Case Diagram</vt:lpstr>
      <vt:lpstr>Data flow Diagram</vt:lpstr>
      <vt:lpstr>PowerPoint Presentation</vt:lpstr>
      <vt:lpstr>Screenshots</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Health Analysis Using Microsoft Power BI</dc:title>
  <dc:creator>PATIL PRATHMESH SURESH</dc:creator>
  <cp:lastModifiedBy>Admin</cp:lastModifiedBy>
  <cp:revision>10</cp:revision>
  <dcterms:created xsi:type="dcterms:W3CDTF">2023-01-24T13:52:43Z</dcterms:created>
  <dcterms:modified xsi:type="dcterms:W3CDTF">2023-06-30T04:56:47Z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Order">
    <vt:r8>74064500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